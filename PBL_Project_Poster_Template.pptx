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66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1920240" y="320040"/>
            <a:ext cx="84079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3200" b="1">
                <a:solidFill>
                  <a:srgbClr val="FFFFFF"/>
                </a:solidFill>
                <a:latin typeface="Aptos"/>
              </a:rPr>
              <a:t>CRM FOR SMALL BUSINESS]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[7] |  Section: [S9]  |  Members: [Thanvi – Roll No.2520030214], [Keerthi – Roll No.2520030416], [Ashwika – Roll No.2520030224]  |  Guide: [Dr. Prashanthi </a:t>
            </a:r>
            <a:r>
              <a:rPr lang="en-US" sz="135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Vegeasna</a:t>
            </a:r>
            <a:r>
              <a:rPr lang="en-US" sz="13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350"/>
          </a:p>
          <a:p>
            <a:pPr marL="0" indent="0">
              <a:spcAft>
                <a:spcPts val="400"/>
              </a:spcAft>
              <a:buNone/>
            </a:pPr>
            <a:r>
              <a:rPr lang="en-US" sz="13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9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Small businesses need an efficient way to manage customer information and business activities.</a:t>
            </a:r>
          </a:p>
          <a:p>
            <a:pPr>
              <a:spcAft>
                <a:spcPts val="200"/>
              </a:spcAft>
              <a:defRPr sz="89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The CRM centralizes customer records, interactions, leads, sales activities and follow-ups.</a:t>
            </a:r>
          </a:p>
          <a:p>
            <a:pPr>
              <a:spcAft>
                <a:spcPts val="200"/>
              </a:spcAft>
              <a:defRPr sz="89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A dashboard supports monitoring of customer and sales activities and reduces manual work.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</a:t>
            </a:r>
            <a:r>
              <a:rPr lang="en-US" sz="1400"/>
              <a:t>Problem: spreadsheets/manual records can cause duplication, missed follow-ups and difficult retrieval.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400"/>
              <a:t>•  Objective: develop an easy-to-use CRM that organizes customer information and sales processes.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400"/>
              <a:t>•  Objective: improve customer relationship management and support better business decisions.</a:t>
            </a:r>
          </a:p>
          <a:p>
            <a:pPr>
              <a:spcAft>
                <a:spcPts val="400"/>
              </a:spcAft>
              <a:buSzPct val="100000"/>
            </a:pPr>
            <a:endParaRPr lang="en-US" sz="155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412" y="6263641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99136"/>
              </p:ext>
            </p:extLst>
          </p:nvPr>
        </p:nvGraphicFramePr>
        <p:xfrm>
          <a:off x="453896" y="6526530"/>
          <a:ext cx="4618230" cy="2811780"/>
        </p:xfrm>
        <a:graphic>
          <a:graphicData uri="http://schemas.openxmlformats.org/drawingml/2006/table">
            <a:tbl>
              <a:tblPr/>
              <a:tblGrid>
                <a:gridCol w="109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records 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Manual/spreadsheet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database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organization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duplication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records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missed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and scheduled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activities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 centrally managed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in CRM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information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find quickly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Search/update/retrieve</a:t>
                      </a:r>
                      <a:endParaRPr lang="en-US" sz="13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6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</a:t>
            </a:r>
            <a:r>
              <a:rPr lang="en-US" sz="1400"/>
              <a:t>Technical: HTML, CSS, JavaScript, Java / Node.js and MySQL are specified.</a:t>
            </a:r>
          </a:p>
          <a:p>
            <a:pPr>
              <a:spcAft>
                <a:spcPts val="200"/>
              </a:spcAft>
              <a:defRPr sz="860">
                <a:solidFill>
                  <a:srgbClr val="282828"/>
                </a:solidFill>
                <a:latin typeface="Aptos"/>
              </a:defRPr>
            </a:pPr>
            <a:r>
              <a:rPr lang="en-US" sz="1400"/>
              <a:t>•  Economic: based on the project plan, an open-source / free-tier stack can be used.</a:t>
            </a:r>
          </a:p>
          <a:p>
            <a:pPr>
              <a:spcAft>
                <a:spcPts val="200"/>
              </a:spcAft>
              <a:defRPr sz="860">
                <a:solidFill>
                  <a:srgbClr val="282828"/>
                </a:solidFill>
                <a:latin typeface="Aptos"/>
              </a:defRPr>
            </a:pPr>
            <a:r>
              <a:rPr lang="en-US" sz="1400"/>
              <a:t>•  Operational: centralized records and a dashboard support easier use and maintenance.</a:t>
            </a:r>
          </a:p>
          <a:p>
            <a:pPr>
              <a:spcAft>
                <a:spcPts val="200"/>
              </a:spcAft>
              <a:defRPr sz="860">
                <a:solidFill>
                  <a:srgbClr val="282828"/>
                </a:solidFill>
                <a:latin typeface="Aptos"/>
              </a:defRPr>
            </a:pPr>
            <a:r>
              <a:rPr lang="en-US" sz="1400"/>
              <a:t>•  Schedule: designed for completion within the semester timeline.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Frontend: HTML, CSS, JavaScript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Backend: Java / Node.js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Database: MySQL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Development Tool: Visual Studio Code</a:t>
            </a:r>
          </a:p>
          <a:p>
            <a:pPr>
              <a:spcAft>
                <a:spcPts val="200"/>
              </a:spcAft>
              <a:defRPr sz="880">
                <a:solidFill>
                  <a:srgbClr val="282828"/>
                </a:solidFill>
                <a:latin typeface="Aptos"/>
              </a:defRPr>
            </a:pPr>
            <a:r>
              <a:rPr lang="en-US" sz="1600"/>
              <a:t>•  Database Management: MySQL Workbench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3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Expected outcome: centralized customer information and better organization of customer, lead, sales and follow-up data.</a:t>
            </a:r>
          </a:p>
          <a:p>
            <a:pPr>
              <a:spcAft>
                <a:spcPts val="200"/>
              </a:spcAft>
              <a:defRPr sz="83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Testing focus: CRUD operations, validation and application performance.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4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The CRM provides a centralized way to manage customer information and reduces manual work.</a:t>
            </a:r>
          </a:p>
          <a:p>
            <a:pPr>
              <a:spcAft>
                <a:spcPts val="200"/>
              </a:spcAft>
              <a:defRPr sz="840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 It supports customers, leads, sales and follow-ups efficiently.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69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Advanced sales reports and analytics.</a:t>
            </a:r>
          </a:p>
          <a:p>
            <a:pPr>
              <a:spcAft>
                <a:spcPts val="200"/>
              </a:spcAft>
              <a:defRPr sz="869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Automated notifications for follow-ups.</a:t>
            </a:r>
          </a:p>
          <a:p>
            <a:pPr>
              <a:spcAft>
                <a:spcPts val="200"/>
              </a:spcAft>
              <a:defRPr sz="869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Customer communication features.</a:t>
            </a:r>
          </a:p>
          <a:p>
            <a:pPr>
              <a:spcAft>
                <a:spcPts val="200"/>
              </a:spcAft>
              <a:defRPr sz="869">
                <a:solidFill>
                  <a:srgbClr val="282828"/>
                </a:solidFill>
                <a:latin typeface="Aptos"/>
              </a:defRPr>
            </a:pPr>
            <a:r>
              <a:rPr lang="en-US" sz="1100"/>
              <a:t>•  More dashboard and business insights.</a:t>
            </a:r>
          </a:p>
          <a:p>
            <a:pPr>
              <a:spcAft>
                <a:spcPts val="400"/>
              </a:spcAft>
              <a:buSzPct val="100000"/>
            </a:pPr>
            <a:endParaRPr lang="en-US" sz="110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/>
              <a:t>Salesforce ,Salesforce. </a:t>
            </a:r>
            <a:r>
              <a:rPr lang="en-US" sz="1100" i="1"/>
              <a:t>CRM for Small Business: Software &amp; </a:t>
            </a:r>
            <a:r>
              <a:rPr lang="en-US" sz="1100" i="1" err="1"/>
              <a:t>Tools,</a:t>
            </a:r>
            <a:r>
              <a:rPr lang="en-US" sz="1100" err="1"/>
              <a:t>Oracle</a:t>
            </a:r>
            <a:r>
              <a:rPr lang="en-US" sz="1100"/>
              <a:t> MySQL. </a:t>
            </a:r>
            <a:r>
              <a:rPr lang="en-US" sz="1100" i="1"/>
              <a:t>MySQL 8.0 Reference Manual </a:t>
            </a:r>
            <a:endParaRPr lang="en-US" sz="1100"/>
          </a:p>
          <a:p>
            <a:pPr lvl="0"/>
            <a:r>
              <a:rPr lang="en-US" sz="1100"/>
              <a:t>Project Team Documentation</a:t>
            </a:r>
          </a:p>
          <a:p>
            <a:pPr marL="0" indent="0">
              <a:buNone/>
            </a:pPr>
            <a:endParaRPr lang="en-US" sz="110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2A5776F-F95A-869E-2FCD-6102F231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141" y="8008620"/>
            <a:ext cx="2955365" cy="16002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3E674EA-B65D-B393-F50D-236DF3EB3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4937760"/>
            <a:ext cx="4569713" cy="219456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4A49526-CD5C-5D91-4ACA-2D46630B6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267" y="10503498"/>
            <a:ext cx="2303549" cy="184090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C93EE8E-C9F3-24F6-47B7-5FDF815B4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10503498"/>
            <a:ext cx="2303549" cy="1840902"/>
          </a:xfrm>
          <a:prstGeom prst="rect">
            <a:avLst/>
          </a:prstGeom>
        </p:spPr>
      </p:pic>
      <p:pic>
        <p:nvPicPr>
          <p:cNvPr id="55" name="Picture 54" descr="Contact Bachupally-Bowrampet, Hyderabad Campus - KLH University">
            <a:extLst>
              <a:ext uri="{FF2B5EF4-FFF2-40B4-BE49-F238E27FC236}">
                <a16:creationId xmlns:a16="http://schemas.microsoft.com/office/drawing/2014/main" id="{7ABC4079-7C68-A96C-25AA-8CF0642DB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1" y="274320"/>
            <a:ext cx="1562099" cy="13716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2BEB571-B5B4-B14C-52C3-69D909703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3880" y="14264640"/>
            <a:ext cx="955039" cy="82296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5381AA8-1D93-5B75-1141-911B6F279788}"/>
              </a:ext>
            </a:extLst>
          </p:cNvPr>
          <p:cNvSpPr txBox="1"/>
          <p:nvPr/>
        </p:nvSpPr>
        <p:spPr>
          <a:xfrm>
            <a:off x="9122663" y="14149224"/>
            <a:ext cx="24109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Backend-Project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Chegireddy Thanvi</cp:lastModifiedBy>
  <cp:revision>1</cp:revision>
  <dcterms:created xsi:type="dcterms:W3CDTF">2026-09-28T08:11:17Z</dcterms:created>
  <dcterms:modified xsi:type="dcterms:W3CDTF">2026-10-02T14:16:54Z</dcterms:modified>
</cp:coreProperties>
</file>